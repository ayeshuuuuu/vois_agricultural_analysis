
<file path=[Content_Types].xml><?xml version="1.0" encoding="utf-8"?>
<Types xmlns="http://schemas.openxmlformats.org/package/2006/content-types">
  <Default Extension="jfif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20"/>
  </p:notesMasterIdLst>
  <p:handoutMasterIdLst>
    <p:handoutMasterId r:id="rId21"/>
  </p:handoutMasterIdLst>
  <p:sldIdLst>
    <p:sldId id="338" r:id="rId5"/>
    <p:sldId id="327" r:id="rId6"/>
    <p:sldId id="315" r:id="rId7"/>
    <p:sldId id="329" r:id="rId8"/>
    <p:sldId id="302" r:id="rId9"/>
    <p:sldId id="339" r:id="rId10"/>
    <p:sldId id="340" r:id="rId11"/>
    <p:sldId id="348" r:id="rId12"/>
    <p:sldId id="349" r:id="rId13"/>
    <p:sldId id="350" r:id="rId14"/>
    <p:sldId id="344" r:id="rId15"/>
    <p:sldId id="341" r:id="rId16"/>
    <p:sldId id="342" r:id="rId17"/>
    <p:sldId id="343" r:id="rId18"/>
    <p:sldId id="304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85" autoAdjust="0"/>
    <p:restoredTop sz="95033" autoAdjust="0"/>
  </p:normalViewPr>
  <p:slideViewPr>
    <p:cSldViewPr snapToGrid="0">
      <p:cViewPr varScale="1">
        <p:scale>
          <a:sx n="67" d="100"/>
          <a:sy n="67" d="100"/>
        </p:scale>
        <p:origin x="774" y="78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9/9/2026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9/9/2026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9/9/2026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9/9/2026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9/9/2026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yeshuuuuu/VOIS_Agricultural_Analysis" TargetMode="Externa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0962" y="2752169"/>
            <a:ext cx="8512926" cy="743448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rgbClr val="FFC000"/>
                </a:solidFill>
              </a:rPr>
              <a:t>Seasonal Agriculture Performance Analysis</a:t>
            </a:r>
            <a:endParaRPr lang="en-IN" sz="3200" dirty="0">
              <a:solidFill>
                <a:srgbClr val="FFC000"/>
              </a:solidFill>
            </a:endParaRPr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400800" y="27940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7F04107-8754-E47D-3375-529E689711FA}"/>
              </a:ext>
            </a:extLst>
          </p:cNvPr>
          <p:cNvSpPr txBox="1"/>
          <p:nvPr/>
        </p:nvSpPr>
        <p:spPr>
          <a:xfrm>
            <a:off x="5607425" y="5369845"/>
            <a:ext cx="41055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AICTE STU ID : </a:t>
            </a:r>
            <a:r>
              <a:rPr lang="en-US" b="1" dirty="0">
                <a:solidFill>
                  <a:srgbClr val="92D050"/>
                </a:solidFill>
              </a:rPr>
              <a:t>STU69799882239c51769576578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7C9073C-687C-2FE7-07E6-4D5278B8BB4F}"/>
              </a:ext>
            </a:extLst>
          </p:cNvPr>
          <p:cNvSpPr txBox="1"/>
          <p:nvPr/>
        </p:nvSpPr>
        <p:spPr>
          <a:xfrm>
            <a:off x="5228695" y="4589349"/>
            <a:ext cx="21380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b="0" dirty="0">
                <a:solidFill>
                  <a:schemeClr val="tx1"/>
                </a:solidFill>
              </a:rPr>
              <a:t>Name :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MUSKAN</a:t>
            </a:r>
            <a:r>
              <a:rPr lang="en-US" b="0" dirty="0">
                <a:solidFill>
                  <a:schemeClr val="tx1"/>
                </a:solidFill>
              </a:rPr>
              <a:t> </a:t>
            </a:r>
            <a:endParaRPr lang="en-IN" b="0" dirty="0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ADF6818-2B66-304A-8FD9-44C284E8FC56}"/>
              </a:ext>
            </a:extLst>
          </p:cNvPr>
          <p:cNvSpPr txBox="1"/>
          <p:nvPr/>
        </p:nvSpPr>
        <p:spPr>
          <a:xfrm>
            <a:off x="5257800" y="5000513"/>
            <a:ext cx="42179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b="0" dirty="0">
                <a:solidFill>
                  <a:schemeClr val="tx1"/>
                </a:solidFill>
              </a:rPr>
              <a:t>College </a:t>
            </a:r>
            <a:r>
              <a:rPr lang="en-US" b="0" dirty="0">
                <a:solidFill>
                  <a:schemeClr val="accent1">
                    <a:lumMod val="75000"/>
                  </a:schemeClr>
                </a:solidFill>
              </a:rPr>
              <a:t>: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Pallavi Engineering College</a:t>
            </a:r>
          </a:p>
        </p:txBody>
      </p:sp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6E4DD1-270B-4C80-AFF0-EB26F132A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46480" y="1875556"/>
            <a:ext cx="7532744" cy="4121832"/>
          </a:xfrm>
        </p:spPr>
        <p:txBody>
          <a:bodyPr vert="horz" lIns="91440" tIns="45720" rIns="91440" bIns="45720" rtlCol="0" anchor="t">
            <a:normAutofit fontScale="77500" lnSpcReduction="20000"/>
          </a:bodyPr>
          <a:lstStyle/>
          <a:p>
            <a:pPr>
              <a:lnSpc>
                <a:spcPct val="100000"/>
              </a:lnSpc>
            </a:pPr>
            <a:r>
              <a:rPr lang="en-IN" sz="2800" dirty="0"/>
              <a:t>(</a:t>
            </a:r>
            <a:r>
              <a:rPr lang="en-US" sz="2800" dirty="0"/>
              <a:t>Agricultural activities are influenced by seasonal variations in environmental conditions, farming practices, resource availability and market conditions. As a result, agricultural performance may differ from one season to another.</a:t>
            </a:r>
          </a:p>
          <a:p>
            <a:pPr>
              <a:lnSpc>
                <a:spcPct val="100000"/>
              </a:lnSpc>
            </a:pPr>
            <a:r>
              <a:rPr lang="en-US" sz="2800" dirty="0"/>
              <a:t> However, raw agricultural data does not clearly explain how agricultural performance changes across seasons or what patterns can be observed in different seasonal conditions. </a:t>
            </a:r>
          </a:p>
          <a:p>
            <a:pPr>
              <a:lnSpc>
                <a:spcPct val="100000"/>
              </a:lnSpc>
            </a:pPr>
            <a:r>
              <a:rPr lang="en-US" sz="2800" dirty="0"/>
              <a:t>The problem is to analyze the given agricultural dataset and investigate seasonal differences in agricultural performance by identifying meaningful patterns, trends, relationships and variations within the available data.</a:t>
            </a:r>
            <a:endParaRPr lang="en-IN" sz="28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602" y="550417"/>
            <a:ext cx="6995604" cy="790111"/>
          </a:xfrm>
        </p:spPr>
        <p:txBody>
          <a:bodyPr>
            <a:normAutofit fontScale="90000"/>
          </a:bodyPr>
          <a:lstStyle/>
          <a:p>
            <a:r>
              <a:rPr lang="en-US" dirty="0"/>
              <a:t>PROBLEM  STATEMENT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684" y="2930834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359" y="852106"/>
            <a:ext cx="6276109" cy="830997"/>
          </a:xfrm>
        </p:spPr>
        <p:txBody>
          <a:bodyPr>
            <a:normAutofit fontScale="90000"/>
          </a:bodyPr>
          <a:lstStyle/>
          <a:p>
            <a:r>
              <a:rPr lang="en-GB" dirty="0"/>
              <a:t>Project Description</a:t>
            </a:r>
            <a:br>
              <a:rPr lang="en-GB" dirty="0"/>
            </a:br>
            <a:r>
              <a:rPr lang="en-GB" dirty="0"/>
              <a:t> </a:t>
            </a:r>
            <a:br>
              <a:rPr lang="en-GB" dirty="0"/>
            </a:b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C63EDD89-76D9-1191-3A6C-AE87DFC525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4606" y="2112702"/>
            <a:ext cx="9048676" cy="32208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Analyze agricultural data across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Kharif, Rabi and Zaid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seasons.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Study environmental conditions, farming practices, resource usage and economic performance.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Clean and prepare the dataset using Python.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Use statistical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aalysis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and data visualizations to compare seasons.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Identify important patterns and provide data-driven recommendations. </a:t>
            </a:r>
          </a:p>
        </p:txBody>
      </p:sp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008" y="876617"/>
            <a:ext cx="10046070" cy="802641"/>
          </a:xfrm>
        </p:spPr>
        <p:txBody>
          <a:bodyPr>
            <a:normAutofit/>
          </a:bodyPr>
          <a:lstStyle/>
          <a:p>
            <a:r>
              <a:rPr lang="en-US" sz="3200" dirty="0"/>
              <a:t>WHO ARE THE END USERS?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  <p:sp>
        <p:nvSpPr>
          <p:cNvPr id="5" name="Rectangle 2">
            <a:extLst>
              <a:ext uri="{FF2B5EF4-FFF2-40B4-BE49-F238E27FC236}">
                <a16:creationId xmlns:a16="http://schemas.microsoft.com/office/drawing/2014/main" id="{A13C1F84-872C-A272-2528-2190386E2DD6}"/>
              </a:ext>
            </a:extLst>
          </p:cNvPr>
          <p:cNvSpPr>
            <a:spLocks noGrp="1" noChangeArrowheads="1"/>
          </p:cNvSpPr>
          <p:nvPr>
            <p:ph type="body" sz="quarter" idx="12"/>
          </p:nvPr>
        </p:nvSpPr>
        <p:spPr bwMode="auto">
          <a:xfrm>
            <a:off x="721359" y="2063008"/>
            <a:ext cx="4532010" cy="34342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👨‍🌾 Farmers </a:t>
            </a:r>
          </a:p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🌾 Agricultural Planners </a:t>
            </a:r>
          </a:p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🔬 Agricultural Researchers </a:t>
            </a:r>
          </a:p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🏛️ Government/Agriculture Departments </a:t>
            </a:r>
          </a:p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💼 Agribusiness Stakeholders </a:t>
            </a:r>
          </a:p>
        </p:txBody>
      </p:sp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7194004" y="1794740"/>
            <a:ext cx="2352281" cy="4099364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430567"/>
            <a:ext cx="5306291" cy="847817"/>
          </a:xfrm>
        </p:spPr>
        <p:txBody>
          <a:bodyPr>
            <a:normAutofit/>
          </a:bodyPr>
          <a:lstStyle/>
          <a:p>
            <a:r>
              <a:rPr lang="en-US" dirty="0"/>
              <a:t>Technology Used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59FCC1EC-1C5C-19F0-4DF5-D6E479D77A78}"/>
              </a:ext>
            </a:extLst>
          </p:cNvPr>
          <p:cNvSpPr>
            <a:spLocks noGrp="1" noChangeArrowheads="1"/>
          </p:cNvSpPr>
          <p:nvPr>
            <p:ph type="body" sz="quarter" idx="12"/>
          </p:nvPr>
        </p:nvSpPr>
        <p:spPr bwMode="auto">
          <a:xfrm>
            <a:off x="819112" y="1860866"/>
            <a:ext cx="3313728" cy="3967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🐍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Python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🐼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Pandas &amp; NumPy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📊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Matplotlib &amp; Seaborn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📓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Jupyter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Notebook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📄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CSV Dataset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🐙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GitHub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241" y="350701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EB10207-6634-80E1-037E-D8573A0D7B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982" y="1438836"/>
            <a:ext cx="4576345" cy="388448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5033879-48B4-DA72-34DD-AC62F31D12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7596" y="1438836"/>
            <a:ext cx="4576345" cy="3884484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B6C7BD65-C214-5B34-9D7D-8AC7B0846A50}"/>
              </a:ext>
            </a:extLst>
          </p:cNvPr>
          <p:cNvSpPr txBox="1"/>
          <p:nvPr/>
        </p:nvSpPr>
        <p:spPr>
          <a:xfrm>
            <a:off x="589347" y="5583969"/>
            <a:ext cx="861596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Kharif shows the best overall performance with the highest average yield, production, revenue, and profit, while Zaid shows the weakest economic performance.</a:t>
            </a:r>
          </a:p>
        </p:txBody>
      </p:sp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AAE43-B138-25CD-D01F-41DB38855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FCF24DA-3CDC-4D87-9335-AB913C783F7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6D5AF756-BADB-9E87-14AC-F87A8C746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716F3BA-AE41-9B35-3BCA-353F205375D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E149068-B429-662F-714A-0DD8CE171A51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68ACB44-6F98-6E01-A347-5A7AAD69CFB3}"/>
              </a:ext>
            </a:extLst>
          </p:cNvPr>
          <p:cNvSpPr txBox="1"/>
          <p:nvPr/>
        </p:nvSpPr>
        <p:spPr>
          <a:xfrm>
            <a:off x="675957" y="5751803"/>
            <a:ext cx="748151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Kharif had the highest rainfall and water efficiency, while Zaid had the lowest water efficiency despite using more water.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6BBB495-B9DB-D4D8-F2DF-4153D463F9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341" y="1387287"/>
            <a:ext cx="4146353" cy="408342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C720FD3-76CB-C065-E8A6-5EB9ECA914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4798" y="1201586"/>
            <a:ext cx="4146353" cy="4083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9627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872DF7-ABFD-3D39-B611-BEFB7531E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2A6165D-8E97-DD9A-E4E9-23FD0C96079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90FEDE8-8191-5A6E-ACE9-1783FA6056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873B195-E0DD-D0EA-0097-62055766405C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188636C1-8AB6-D844-BBC9-C8C5FCABE2F1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71C806-BCD1-AAFE-1A7B-1EE324B2589C}"/>
              </a:ext>
            </a:extLst>
          </p:cNvPr>
          <p:cNvSpPr txBox="1"/>
          <p:nvPr/>
        </p:nvSpPr>
        <p:spPr>
          <a:xfrm>
            <a:off x="675957" y="5695900"/>
            <a:ext cx="804440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Sugarcane was the highest-yielding crop across all three seasons, while yield varied across different states.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547B603-EB53-AA28-45FA-E0A24E4CC3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872" y="1275371"/>
            <a:ext cx="4362152" cy="390485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C273541-7644-4588-791B-EDFBB91455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4175" y="1275371"/>
            <a:ext cx="4362152" cy="3904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80493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FEE2C1-E42E-0DE2-ED6B-2FDBBB9189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005D2E1-93BE-1C85-158B-B4C956209B3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C139AF4-B608-52B4-9868-D0737F1C1C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A3BF5A13-80E6-21B6-EE6F-AEB04752DF17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D8882F39-CC0D-2C50-FC47-EACA9F089D03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624A467-5639-8EBF-1487-91D75E2A7BA0}"/>
              </a:ext>
            </a:extLst>
          </p:cNvPr>
          <p:cNvSpPr txBox="1"/>
          <p:nvPr/>
        </p:nvSpPr>
        <p:spPr>
          <a:xfrm>
            <a:off x="638340" y="5841080"/>
            <a:ext cx="803410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Environmental conditions show different relationships with yield across seasons, “rainfall and yield show an observed relationship/pattern.”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09AFA46-6C0F-BED5-C675-5225CF83CC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340" y="1431408"/>
            <a:ext cx="4109807" cy="415122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954895B-D3DD-F193-860A-6C76B51077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1898" y="1580836"/>
            <a:ext cx="4109807" cy="4001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30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92C0DA-ACB1-0E1F-4F4A-46E11C5222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1D07B1C-09E3-C928-99CE-DFA5DF4EDD4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5C7BA9E8-5A99-D7E2-97DC-B7D86FB59C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2E5957C3-9CDC-11AF-0EC1-2B1146597BAB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7625477-7756-55EB-CF8F-979F090079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9379" y="1587078"/>
            <a:ext cx="4232075" cy="39955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E424D25-0DA2-8B30-FDDE-57273ADABE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982" y="1587077"/>
            <a:ext cx="4579057" cy="399555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E35E45E-733E-7F17-1EB0-B748AF00F463}"/>
              </a:ext>
            </a:extLst>
          </p:cNvPr>
          <p:cNvSpPr txBox="1"/>
          <p:nvPr/>
        </p:nvSpPr>
        <p:spPr>
          <a:xfrm>
            <a:off x="855665" y="6007256"/>
            <a:ext cx="61194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disease/pest risk was highest in Kharif.</a:t>
            </a:r>
          </a:p>
        </p:txBody>
      </p:sp>
    </p:spTree>
    <p:extLst>
      <p:ext uri="{BB962C8B-B14F-4D97-AF65-F5344CB8AC3E}">
        <p14:creationId xmlns:p14="http://schemas.microsoft.com/office/powerpoint/2010/main" val="2892935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9E943-C59C-1D86-29CA-F786C47BA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EC6E6C7-69F2-D361-F3CC-FC5268D9BC8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FCD5524-F764-DC63-6F54-D48057CF1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B1E3463-DEAD-53DD-2AC0-E8A458421D0B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B713140B-3822-90E0-F216-B77A695B86B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6E5052E-29D9-1B77-8D01-E5EB0C10D5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4711264"/>
              </p:ext>
            </p:extLst>
          </p:nvPr>
        </p:nvGraphicFramePr>
        <p:xfrm>
          <a:off x="597877" y="1608410"/>
          <a:ext cx="8596312" cy="2194560"/>
        </p:xfrm>
        <a:graphic>
          <a:graphicData uri="http://schemas.openxmlformats.org/drawingml/2006/table">
            <a:tbl>
              <a:tblPr firstRow="1">
                <a:tableStyleId>{5A111915-BE36-4E01-A7E5-04B1672EAD32}</a:tableStyleId>
              </a:tblPr>
              <a:tblGrid>
                <a:gridCol w="4296852">
                  <a:extLst>
                    <a:ext uri="{9D8B030D-6E8A-4147-A177-3AD203B41FA5}">
                      <a16:colId xmlns:a16="http://schemas.microsoft.com/office/drawing/2014/main" val="1981430371"/>
                    </a:ext>
                  </a:extLst>
                </a:gridCol>
                <a:gridCol w="4299460">
                  <a:extLst>
                    <a:ext uri="{9D8B030D-6E8A-4147-A177-3AD203B41FA5}">
                      <a16:colId xmlns:a16="http://schemas.microsoft.com/office/drawing/2014/main" val="237020120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Metric</a:t>
                      </a:r>
                    </a:p>
                  </a:txBody>
                  <a:tcPr anchor="ctr">
                    <a:cell3D prstMaterial="dkEdge">
                      <a:bevel prst="relaxedInset"/>
                      <a:lightRig rig="flood" dir="t"/>
                    </a:cell3D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Best Season</a:t>
                      </a:r>
                    </a:p>
                  </a:txBody>
                  <a:tcPr anchor="ctr">
                    <a:cell3D prstMaterial="dkEdge">
                      <a:bevel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2359795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Average Yield</a:t>
                      </a:r>
                    </a:p>
                  </a:txBody>
                  <a:tcPr anchor="ctr">
                    <a:cell3D prstMaterial="dkEdge">
                      <a:bevel prst="convex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Kharif</a:t>
                      </a:r>
                      <a:endParaRPr lang="en-US" dirty="0"/>
                    </a:p>
                  </a:txBody>
                  <a:tcPr anchor="ctr">
                    <a:cell3D prstMaterial="dkEdge">
                      <a:bevel prst="relaxedInset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5837554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Average Production</a:t>
                      </a:r>
                    </a:p>
                  </a:txBody>
                  <a:tcPr anchor="ctr">
                    <a:cell3D prstMaterial="dkEdge">
                      <a:bevel prst="convex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Kharif</a:t>
                      </a:r>
                      <a:endParaRPr lang="en-US" dirty="0"/>
                    </a:p>
                  </a:txBody>
                  <a:tcPr anchor="ctr">
                    <a:cell3D prstMaterial="dkEdge">
                      <a:bevel prst="relaxedInset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25562276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Average Revenue</a:t>
                      </a:r>
                    </a:p>
                  </a:txBody>
                  <a:tcPr anchor="ctr">
                    <a:cell3D prstMaterial="dkEdge">
                      <a:bevel prst="convex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Kharif</a:t>
                      </a:r>
                      <a:endParaRPr lang="en-US" dirty="0"/>
                    </a:p>
                  </a:txBody>
                  <a:tcPr anchor="ctr">
                    <a:cell3D prstMaterial="dkEdge">
                      <a:bevel prst="relaxedInset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19131502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Average Profit</a:t>
                      </a:r>
                    </a:p>
                  </a:txBody>
                  <a:tcPr anchor="ctr">
                    <a:cell3D prstMaterial="dkEdge">
                      <a:bevel prst="convex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Kharif</a:t>
                      </a:r>
                      <a:endParaRPr lang="en-US" dirty="0"/>
                    </a:p>
                  </a:txBody>
                  <a:tcPr anchor="ctr">
                    <a:cell3D prstMaterial="dkEdge">
                      <a:bevel prst="relaxedInset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5809653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Water Efficiency</a:t>
                      </a:r>
                    </a:p>
                  </a:txBody>
                  <a:tcPr anchor="ctr">
                    <a:cell3D prstMaterial="dkEdge">
                      <a:bevel prst="convex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Kharif</a:t>
                      </a:r>
                      <a:endParaRPr lang="en-US" dirty="0"/>
                    </a:p>
                  </a:txBody>
                  <a:tcPr anchor="ctr">
                    <a:cell3D prstMaterial="dkEdge">
                      <a:bevel prst="relaxedInset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618887911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C6AF54E2-6F48-6498-AC97-929AA5F680DD}"/>
              </a:ext>
            </a:extLst>
          </p:cNvPr>
          <p:cNvSpPr txBox="1"/>
          <p:nvPr/>
        </p:nvSpPr>
        <p:spPr>
          <a:xfrm>
            <a:off x="597877" y="4121782"/>
            <a:ext cx="787377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solidFill>
                  <a:srgbClr val="FFC000"/>
                </a:solidFill>
              </a:rPr>
              <a:t>observations:</a:t>
            </a:r>
          </a:p>
          <a:p>
            <a:pPr>
              <a:buNone/>
            </a:pPr>
            <a:endParaRPr lang="en-US" dirty="0">
              <a:solidFill>
                <a:srgbClr val="FFC000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Kharif was the strongest overall season.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Rabi showed moderate performance.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Zaid had the lowest average yield and negative average profit.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Sugarcane had the highest yield across all seasons.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Zaid had the lowest water efficiency.</a:t>
            </a:r>
          </a:p>
        </p:txBody>
      </p:sp>
    </p:spTree>
    <p:extLst>
      <p:ext uri="{BB962C8B-B14F-4D97-AF65-F5344CB8AC3E}">
        <p14:creationId xmlns:p14="http://schemas.microsoft.com/office/powerpoint/2010/main" val="1698901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E94ED-1743-306E-1CA1-9410A2B50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4506C61-5206-F1DF-9994-DED24DFB1C6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B097C2C-D75A-31D4-CD9F-366F39CDE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593370"/>
            <a:ext cx="4735798" cy="830997"/>
          </a:xfrm>
        </p:spPr>
        <p:txBody>
          <a:bodyPr>
            <a:normAutofit/>
          </a:bodyPr>
          <a:lstStyle/>
          <a:p>
            <a:r>
              <a:rPr lang="en-IN" sz="4000" dirty="0"/>
              <a:t>Future scope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B7444DDE-63A3-9721-77CC-C93FED110DAF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2C8A8B73-0C64-E012-F561-D7FE5E322230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FB37586-E3B7-F337-27D7-EB534A42E3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5957" y="1573364"/>
            <a:ext cx="7356501" cy="37112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Develop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real-time agricultural dashboard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more years of data to identify long-term seasonal trends. </a:t>
            </a:r>
          </a:p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Include real-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timeweather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environmental data. </a:t>
            </a:r>
          </a:p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Build models to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predict crop yield and profit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Develop crop recommendation systems for better seasonal planning. </a:t>
            </a:r>
          </a:p>
        </p:txBody>
      </p:sp>
    </p:spTree>
    <p:extLst>
      <p:ext uri="{BB962C8B-B14F-4D97-AF65-F5344CB8AC3E}">
        <p14:creationId xmlns:p14="http://schemas.microsoft.com/office/powerpoint/2010/main" val="776828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316CE-193E-3D5D-C15A-98517303A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D44118A-0276-9E2F-E0E8-85CEE9F1E0C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01A2257-2F98-CB88-038E-C0F1D0A1A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4735798" cy="830997"/>
          </a:xfrm>
        </p:spPr>
        <p:txBody>
          <a:bodyPr>
            <a:normAutofit/>
          </a:bodyPr>
          <a:lstStyle/>
          <a:p>
            <a:r>
              <a:rPr lang="en-IN" sz="4000" dirty="0"/>
              <a:t>GitHub Link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AF1C8809-654A-4DD1-BB18-87B8B6C020B9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F7D0B46-DEEA-1B5E-FE84-59D11F3B110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0E068F-4E28-D2CA-58FF-69FBC0C3E86E}"/>
              </a:ext>
            </a:extLst>
          </p:cNvPr>
          <p:cNvSpPr txBox="1"/>
          <p:nvPr/>
        </p:nvSpPr>
        <p:spPr>
          <a:xfrm>
            <a:off x="675957" y="2136699"/>
            <a:ext cx="6717323" cy="7107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u="sng" dirty="0">
                <a:hlinkClick r:id="rId3"/>
              </a:rPr>
              <a:t>https://github.com/Ayeshuuuuu/VOIS_Agricultural_Analysis</a:t>
            </a:r>
            <a:br>
              <a:rPr lang="en-US" dirty="0"/>
            </a:b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918F67D-99D5-C8A1-D325-1A49BE48820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3856" y="3042657"/>
            <a:ext cx="3155238" cy="2539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3610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66297-EA5A-44FA-6968-26D32B9B1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B12FC48-BC6E-8635-A49E-73EF17CEDC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42B692F6-18B4-BC16-EA0C-48FFBD562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8351388" cy="884658"/>
          </a:xfrm>
        </p:spPr>
        <p:txBody>
          <a:bodyPr>
            <a:normAutofit fontScale="90000"/>
          </a:bodyPr>
          <a:lstStyle/>
          <a:p>
            <a:r>
              <a:rPr lang="en-IN" sz="3200" dirty="0"/>
              <a:t>VOIS Course completion certificate -</a:t>
            </a:r>
            <a:br>
              <a:rPr lang="en-IN" sz="3200" dirty="0"/>
            </a:br>
            <a:endParaRPr lang="en-IN" sz="3200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069BD300-7A70-B076-3B4C-43081E893162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8C1854F2-9914-C22F-FF0B-693CD1D0F966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2EDB37-87C9-0F27-3C6D-2C30C4DA01F2}"/>
              </a:ext>
            </a:extLst>
          </p:cNvPr>
          <p:cNvSpPr txBox="1"/>
          <p:nvPr/>
        </p:nvSpPr>
        <p:spPr>
          <a:xfrm>
            <a:off x="945396" y="1023442"/>
            <a:ext cx="61194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/>
              <a:t>Course name- Data Visualization 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6DA8975-9F69-2D14-C627-2FCD410521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163" y="1587502"/>
            <a:ext cx="7949182" cy="507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802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55506" y="2971892"/>
            <a:ext cx="11340000" cy="700114"/>
          </a:xfrm>
          <a:prstGeom prst="rect">
            <a:avLst/>
          </a:prstGeom>
        </p:spPr>
        <p:txBody>
          <a:bodyPr anchor="ctr">
            <a:normAutofit fontScale="90000"/>
          </a:bodyPr>
          <a:lstStyle/>
          <a:p>
            <a:pPr algn="ctr"/>
            <a:r>
              <a:rPr lang="en-US" sz="4800" b="1" dirty="0">
                <a:solidFill>
                  <a:schemeClr val="tx1"/>
                </a:solidFill>
              </a:rPr>
              <a:t>Thank you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7AB1F14-3A1E-4057-A473-9975BA59F0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lstStyle/>
          <a:p>
            <a:r>
              <a:rPr lang="en-US" dirty="0"/>
              <a:t>.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1" grpId="0" build="p"/>
      <p:bldP spid="17" grpId="0"/>
      <p:bldP spid="20" grpId="0"/>
      <p:bldP spid="23" grpId="0"/>
      <p:bldP spid="30" grpId="0"/>
      <p:bldP spid="3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1518</TotalTime>
  <Words>443</Words>
  <Application>Microsoft Office PowerPoint</Application>
  <PresentationFormat>Widescreen</PresentationFormat>
  <Paragraphs>74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Trebuchet MS</vt:lpstr>
      <vt:lpstr>Wingdings</vt:lpstr>
      <vt:lpstr>Wingdings 3</vt:lpstr>
      <vt:lpstr>Facet</vt:lpstr>
      <vt:lpstr>Seasonal Agriculture Performance Analysis</vt:lpstr>
      <vt:lpstr>PROBLEM  STATEMENT</vt:lpstr>
      <vt:lpstr>Project Description   </vt:lpstr>
      <vt:lpstr>WHO ARE THE END USERS?</vt:lpstr>
      <vt:lpstr>Technology Used</vt:lpstr>
      <vt:lpstr>RESULTS </vt:lpstr>
      <vt:lpstr>RESULTS </vt:lpstr>
      <vt:lpstr>RESULTS </vt:lpstr>
      <vt:lpstr>RESULTS </vt:lpstr>
      <vt:lpstr>RESULTS </vt:lpstr>
      <vt:lpstr>RESULTS </vt:lpstr>
      <vt:lpstr>Future scope</vt:lpstr>
      <vt:lpstr>GitHub Link</vt:lpstr>
      <vt:lpstr>VOIS Course completion certificate -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ayesha muskan</cp:lastModifiedBy>
  <cp:revision>101</cp:revision>
  <dcterms:created xsi:type="dcterms:W3CDTF">2021-07-11T13:13:15Z</dcterms:created>
  <dcterms:modified xsi:type="dcterms:W3CDTF">2026-09-09T08:49:35Z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